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4"/>
    <p:sldMasterId id="2147483670" r:id="rId5"/>
    <p:sldMasterId id="2147483688" r:id="rId6"/>
    <p:sldMasterId id="2147483751" r:id="rId7"/>
  </p:sldMasterIdLst>
  <p:notesMasterIdLst>
    <p:notesMasterId r:id="rId20"/>
  </p:notesMasterIdLst>
  <p:sldIdLst>
    <p:sldId id="271" r:id="rId8"/>
    <p:sldId id="280" r:id="rId9"/>
    <p:sldId id="281" r:id="rId10"/>
    <p:sldId id="270" r:id="rId11"/>
    <p:sldId id="272" r:id="rId12"/>
    <p:sldId id="273" r:id="rId13"/>
    <p:sldId id="277" r:id="rId14"/>
    <p:sldId id="276" r:id="rId15"/>
    <p:sldId id="274" r:id="rId16"/>
    <p:sldId id="275" r:id="rId17"/>
    <p:sldId id="278" r:id="rId18"/>
    <p:sldId id="279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C8BD"/>
    <a:srgbClr val="5F95D6"/>
    <a:srgbClr val="2B94FF"/>
    <a:srgbClr val="2A2839"/>
    <a:srgbClr val="F2F3E6"/>
    <a:srgbClr val="242138"/>
    <a:srgbClr val="F0F3CA"/>
    <a:srgbClr val="50437F"/>
    <a:srgbClr val="F5DF9A"/>
    <a:srgbClr val="1D83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01"/>
    <p:restoredTop sz="94654"/>
  </p:normalViewPr>
  <p:slideViewPr>
    <p:cSldViewPr snapToGrid="0" snapToObjects="1">
      <p:cViewPr varScale="1">
        <p:scale>
          <a:sx n="97" d="100"/>
          <a:sy n="97" d="100"/>
        </p:scale>
        <p:origin x="1099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traštės vietos rezervavimo ženklas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3" name="Datos vietos rezervavimo ženklas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86094-E6B3-452F-A27E-BADA1930F3B0}" type="datetimeFigureOut">
              <a:rPr lang="lt-LT"/>
              <a:t>2025-12-03</a:t>
            </a:fld>
            <a:endParaRPr lang="lt-LT"/>
          </a:p>
        </p:txBody>
      </p:sp>
      <p:sp>
        <p:nvSpPr>
          <p:cNvPr id="4" name="Skaidrės vaizdo vietos rezervavimo ženkla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t-LT"/>
          </a:p>
        </p:txBody>
      </p:sp>
      <p:sp>
        <p:nvSpPr>
          <p:cNvPr id="5" name="Pastabų vietos rezervavimo ženkl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lt-LT"/>
              <a:t>Spustelėję redag. ruoš. teksto stilių</a:t>
            </a:r>
          </a:p>
          <a:p>
            <a:pPr lvl="1"/>
            <a:r>
              <a:rPr lang="lt-LT"/>
              <a:t>Antras lygmuo</a:t>
            </a:r>
          </a:p>
          <a:p>
            <a:pPr lvl="2"/>
            <a:r>
              <a:rPr lang="lt-LT"/>
              <a:t>Trečias lygmuo</a:t>
            </a:r>
          </a:p>
          <a:p>
            <a:pPr lvl="3"/>
            <a:r>
              <a:rPr lang="lt-LT"/>
              <a:t>Ketvirtas lygmuo</a:t>
            </a:r>
          </a:p>
          <a:p>
            <a:pPr lvl="4"/>
            <a:r>
              <a:rPr lang="lt-LT"/>
              <a:t>Penktas lygmuo</a:t>
            </a:r>
          </a:p>
        </p:txBody>
      </p:sp>
      <p:sp>
        <p:nvSpPr>
          <p:cNvPr id="6" name="Poraštės vietos rezervavimo ženklas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7" name="Skaidrės numerio vietos rezervavimo ženklas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AC3A8-972D-4E45-92E1-99A21E9D7E9D}" type="slidenum">
              <a:rPr lang="lt-LT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166185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DAC3A8-972D-4E45-92E1-99A21E9D7E9D}" type="slidenum">
              <a:rPr lang="lt-LT"/>
              <a:t>1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736344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uline skaidre _ LT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44F1991-FEC2-974E-9332-C5A0A07C1DF4}"/>
              </a:ext>
            </a:extLst>
          </p:cNvPr>
          <p:cNvSpPr/>
          <p:nvPr userDrawn="1"/>
        </p:nvSpPr>
        <p:spPr>
          <a:xfrm rot="5400000">
            <a:off x="3207250" y="-1047250"/>
            <a:ext cx="2729500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AD8518-5212-284B-A40E-7AB90102FA2C}"/>
              </a:ext>
            </a:extLst>
          </p:cNvPr>
          <p:cNvSpPr/>
          <p:nvPr userDrawn="1"/>
        </p:nvSpPr>
        <p:spPr>
          <a:xfrm rot="5400000">
            <a:off x="3353300" y="-1193300"/>
            <a:ext cx="2437400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160000"/>
            <a:ext cx="9144000" cy="243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C87EE4-286D-B648-B0AD-23BB577F98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770" y="5513930"/>
            <a:ext cx="755730" cy="859456"/>
          </a:xfrm>
          <a:prstGeom prst="rect">
            <a:avLst/>
          </a:prstGeom>
        </p:spPr>
      </p:pic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E9342892-AB51-614E-9761-71E615A762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9144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5688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uline skaidre _ EN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44F1991-FEC2-974E-9332-C5A0A07C1DF4}"/>
              </a:ext>
            </a:extLst>
          </p:cNvPr>
          <p:cNvSpPr/>
          <p:nvPr userDrawn="1"/>
        </p:nvSpPr>
        <p:spPr>
          <a:xfrm rot="5400000">
            <a:off x="3207250" y="-1047250"/>
            <a:ext cx="2729500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AD8518-5212-284B-A40E-7AB90102FA2C}"/>
              </a:ext>
            </a:extLst>
          </p:cNvPr>
          <p:cNvSpPr/>
          <p:nvPr userDrawn="1"/>
        </p:nvSpPr>
        <p:spPr>
          <a:xfrm rot="5400000">
            <a:off x="3353300" y="-1193300"/>
            <a:ext cx="2437400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160000"/>
            <a:ext cx="9144000" cy="243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E9342892-AB51-614E-9761-71E615A762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9144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7DE2C1-4061-474E-9CB0-988261729C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122" y="5513930"/>
            <a:ext cx="1556156" cy="8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591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LT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44F1991-FEC2-974E-9332-C5A0A07C1DF4}"/>
              </a:ext>
            </a:extLst>
          </p:cNvPr>
          <p:cNvSpPr/>
          <p:nvPr userDrawn="1"/>
        </p:nvSpPr>
        <p:spPr>
          <a:xfrm rot="5400000">
            <a:off x="2127250" y="-2127250"/>
            <a:ext cx="4889500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AD8518-5212-284B-A40E-7AB90102FA2C}"/>
              </a:ext>
            </a:extLst>
          </p:cNvPr>
          <p:cNvSpPr/>
          <p:nvPr userDrawn="1"/>
        </p:nvSpPr>
        <p:spPr>
          <a:xfrm rot="5400000">
            <a:off x="2273300" y="-2273300"/>
            <a:ext cx="4597400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9144000" cy="459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C87EE4-286D-B648-B0AD-23BB577F98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7938" y="5513930"/>
            <a:ext cx="755730" cy="85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110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EN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44F1991-FEC2-974E-9332-C5A0A07C1DF4}"/>
              </a:ext>
            </a:extLst>
          </p:cNvPr>
          <p:cNvSpPr/>
          <p:nvPr userDrawn="1"/>
        </p:nvSpPr>
        <p:spPr>
          <a:xfrm rot="5400000">
            <a:off x="2127250" y="-2127250"/>
            <a:ext cx="4889500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AD8518-5212-284B-A40E-7AB90102FA2C}"/>
              </a:ext>
            </a:extLst>
          </p:cNvPr>
          <p:cNvSpPr/>
          <p:nvPr userDrawn="1"/>
        </p:nvSpPr>
        <p:spPr>
          <a:xfrm rot="5400000">
            <a:off x="2273300" y="-2273300"/>
            <a:ext cx="4597400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9144000" cy="459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96605AB-6F28-3D43-82D4-574FD464CE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122" y="5513930"/>
            <a:ext cx="1556156" cy="8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86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44F1991-FEC2-974E-9332-C5A0A07C1DF4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AD8518-5212-284B-A40E-7AB90102FA2C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3048" y="1234374"/>
            <a:ext cx="4429252" cy="2797877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3048" y="4902200"/>
            <a:ext cx="4429252" cy="1421321"/>
          </a:xfrm>
          <a:prstGeom prst="rect">
            <a:avLst/>
          </a:prstGeom>
        </p:spPr>
        <p:txBody>
          <a:bodyPr lIns="0" tIns="0" rIns="90000" bIns="0" anchor="b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1FA6D7-43DE-1A43-9FC9-5242C92B42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872" y="518762"/>
            <a:ext cx="781132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58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44F1991-FEC2-974E-9332-C5A0A07C1DF4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AD8518-5212-284B-A40E-7AB90102FA2C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3048" y="1234374"/>
            <a:ext cx="4429252" cy="2797877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3048" y="4902200"/>
            <a:ext cx="4429252" cy="1421321"/>
          </a:xfrm>
          <a:prstGeom prst="rect">
            <a:avLst/>
          </a:prstGeom>
        </p:spPr>
        <p:txBody>
          <a:bodyPr lIns="0" tIns="0" rIns="90000" bIns="0" anchor="b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4A454A-85F3-BF4D-902F-62A2057E1E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873" y="522362"/>
            <a:ext cx="1618083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241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>
            <a:off x="0" y="0"/>
            <a:ext cx="1284096" cy="6858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>
            <a:off x="0" y="0"/>
            <a:ext cx="1092072" cy="6858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63700" y="607662"/>
            <a:ext cx="6769100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3700" y="1600200"/>
            <a:ext cx="6769100" cy="4406900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ECC7E12-8D85-4C4E-A636-9B84DFFEF8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936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0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3C0503-D084-A547-8F56-62882A6A90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872" y="518762"/>
            <a:ext cx="584200" cy="673100"/>
          </a:xfrm>
          <a:prstGeom prst="rect">
            <a:avLst/>
          </a:prstGeom>
        </p:spPr>
      </p:pic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7872" y="1710623"/>
            <a:ext cx="2362327" cy="24892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Ilgesnis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iš</a:t>
            </a:r>
            <a:r>
              <a:rPr lang="en-US" dirty="0"/>
              <a:t> </a:t>
            </a:r>
            <a:r>
              <a:rPr lang="en-US" dirty="0" err="1"/>
              <a:t>kelių</a:t>
            </a:r>
            <a:r>
              <a:rPr lang="en-US" dirty="0"/>
              <a:t> </a:t>
            </a:r>
            <a:r>
              <a:rPr lang="en-US" dirty="0" err="1"/>
              <a:t>eilučių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D2215AD-0A99-CD40-80CC-8B6357E7218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00413" y="0"/>
            <a:ext cx="5843587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3804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id="{DF1A124D-FF27-D943-8FA7-CE2589BBCC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9144000" cy="55739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BE263E85-B29F-8640-AE37-4812287A57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465" y="5765928"/>
            <a:ext cx="6769100" cy="88258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300"/>
              </a:lnSpc>
              <a:buNone/>
              <a:defRPr sz="1000" b="1" spc="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NUOTRAUKOS APRAŠYMAS</a:t>
            </a:r>
          </a:p>
        </p:txBody>
      </p:sp>
    </p:spTree>
    <p:extLst>
      <p:ext uri="{BB962C8B-B14F-4D97-AF65-F5344CB8AC3E}">
        <p14:creationId xmlns:p14="http://schemas.microsoft.com/office/powerpoint/2010/main" val="1914805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5400000">
            <a:off x="3929952" y="-3929952"/>
            <a:ext cx="1284096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5400000">
            <a:off x="4025964" y="-4025964"/>
            <a:ext cx="1092072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33465" y="351408"/>
            <a:ext cx="6565835" cy="4613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219519"/>
            <a:ext cx="584200" cy="673100"/>
          </a:xfrm>
          <a:prstGeom prst="rect">
            <a:avLst/>
          </a:prstGeom>
        </p:spPr>
      </p:pic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id="{6FF11AB1-85C3-0C44-8FD6-F702D391877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284096"/>
            <a:ext cx="9144000" cy="55739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0792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607662"/>
            <a:ext cx="7983526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BFFFCD-1787-5B47-BD1A-1A848871FB7D}"/>
              </a:ext>
            </a:extLst>
          </p:cNvPr>
          <p:cNvSpPr txBox="1"/>
          <p:nvPr userDrawn="1"/>
        </p:nvSpPr>
        <p:spPr>
          <a:xfrm>
            <a:off x="627008" y="6263785"/>
            <a:ext cx="394499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spc="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KAUNO TECHNOLOGIJOS UNIVERSITETAS</a:t>
            </a:r>
          </a:p>
        </p:txBody>
      </p:sp>
    </p:spTree>
    <p:extLst>
      <p:ext uri="{BB962C8B-B14F-4D97-AF65-F5344CB8AC3E}">
        <p14:creationId xmlns:p14="http://schemas.microsoft.com/office/powerpoint/2010/main" val="2850163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2 _ 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607662"/>
            <a:ext cx="7983526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BFFFCD-1787-5B47-BD1A-1A848871FB7D}"/>
              </a:ext>
            </a:extLst>
          </p:cNvPr>
          <p:cNvSpPr txBox="1"/>
          <p:nvPr userDrawn="1"/>
        </p:nvSpPr>
        <p:spPr>
          <a:xfrm>
            <a:off x="627008" y="6263785"/>
            <a:ext cx="369812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spc="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KAUNAS UNIVERSITY OF TECHNOLOGY</a:t>
            </a:r>
          </a:p>
        </p:txBody>
      </p:sp>
    </p:spTree>
    <p:extLst>
      <p:ext uri="{BB962C8B-B14F-4D97-AF65-F5344CB8AC3E}">
        <p14:creationId xmlns:p14="http://schemas.microsoft.com/office/powerpoint/2010/main" val="2756274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5400000">
            <a:off x="3929952" y="-3929952"/>
            <a:ext cx="1284096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5400000">
            <a:off x="4025964" y="-4025964"/>
            <a:ext cx="1092072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351408"/>
            <a:ext cx="6565835" cy="4613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219519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19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>
            <a:off x="7859904" y="0"/>
            <a:ext cx="1284096" cy="6858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>
            <a:off x="8051928" y="0"/>
            <a:ext cx="1092072" cy="6858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8" y="607662"/>
            <a:ext cx="6688192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008" y="1600200"/>
            <a:ext cx="6688192" cy="4406900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ECC7E12-8D85-4C4E-A636-9B84DFFEF8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5864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61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uline skaidre _ LT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B5E15AB-C7C5-674B-BB8B-40EF0C823FC7}"/>
              </a:ext>
            </a:extLst>
          </p:cNvPr>
          <p:cNvSpPr/>
          <p:nvPr userDrawn="1"/>
        </p:nvSpPr>
        <p:spPr>
          <a:xfrm>
            <a:off x="-2" y="2160000"/>
            <a:ext cx="9144002" cy="2729501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7E57B9-61E0-EF48-B8CE-FDD5F9927E15}"/>
              </a:ext>
            </a:extLst>
          </p:cNvPr>
          <p:cNvSpPr/>
          <p:nvPr userDrawn="1"/>
        </p:nvSpPr>
        <p:spPr>
          <a:xfrm>
            <a:off x="-2" y="2160000"/>
            <a:ext cx="9144001" cy="24374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160000"/>
            <a:ext cx="9144000" cy="243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C87EE4-286D-B648-B0AD-23BB577F98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770" y="5513930"/>
            <a:ext cx="755730" cy="859456"/>
          </a:xfrm>
          <a:prstGeom prst="rect">
            <a:avLst/>
          </a:prstGeom>
        </p:spPr>
      </p:pic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E9342892-AB51-614E-9761-71E615A762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9144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7108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uline skaidre _ EN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3C8F01-7837-9B4D-9A9F-0C917D511C40}"/>
              </a:ext>
            </a:extLst>
          </p:cNvPr>
          <p:cNvSpPr/>
          <p:nvPr userDrawn="1"/>
        </p:nvSpPr>
        <p:spPr>
          <a:xfrm>
            <a:off x="-2" y="2160000"/>
            <a:ext cx="9144002" cy="2729501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B00069-2DFF-FF47-88F7-FE285D0DFBA5}"/>
              </a:ext>
            </a:extLst>
          </p:cNvPr>
          <p:cNvSpPr/>
          <p:nvPr userDrawn="1"/>
        </p:nvSpPr>
        <p:spPr>
          <a:xfrm>
            <a:off x="-2" y="2160000"/>
            <a:ext cx="9144001" cy="24374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160000"/>
            <a:ext cx="9144000" cy="243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E9342892-AB51-614E-9761-71E615A762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9144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7DE2C1-4061-474E-9CB0-988261729C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122" y="5513930"/>
            <a:ext cx="1556156" cy="8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2432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LT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C87EE4-286D-B648-B0AD-23BB577F98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7938" y="5513930"/>
            <a:ext cx="755730" cy="85945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3032B8E-BA6F-2345-B246-E83F1ED8D90C}"/>
              </a:ext>
            </a:extLst>
          </p:cNvPr>
          <p:cNvSpPr/>
          <p:nvPr userDrawn="1"/>
        </p:nvSpPr>
        <p:spPr>
          <a:xfrm>
            <a:off x="-2" y="2141712"/>
            <a:ext cx="9144002" cy="2729501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1DD246-244A-B549-831C-E9C09E78BB4A}"/>
              </a:ext>
            </a:extLst>
          </p:cNvPr>
          <p:cNvSpPr/>
          <p:nvPr userDrawn="1"/>
        </p:nvSpPr>
        <p:spPr>
          <a:xfrm>
            <a:off x="-2" y="0"/>
            <a:ext cx="9144001" cy="4579112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9144000" cy="4579112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3061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EN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42FF71-DB1B-C04A-83D6-0119960236D8}"/>
              </a:ext>
            </a:extLst>
          </p:cNvPr>
          <p:cNvSpPr/>
          <p:nvPr userDrawn="1"/>
        </p:nvSpPr>
        <p:spPr>
          <a:xfrm>
            <a:off x="-2" y="2141712"/>
            <a:ext cx="9144002" cy="2729501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2DB9B7-2AE4-594E-B8B3-7A319ECF02F6}"/>
              </a:ext>
            </a:extLst>
          </p:cNvPr>
          <p:cNvSpPr/>
          <p:nvPr userDrawn="1"/>
        </p:nvSpPr>
        <p:spPr>
          <a:xfrm>
            <a:off x="-2" y="0"/>
            <a:ext cx="9144001" cy="4579112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9144000" cy="459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96605AB-6F28-3D43-82D4-574FD464CE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122" y="5513930"/>
            <a:ext cx="1556156" cy="8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7224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44F1991-FEC2-974E-9332-C5A0A07C1DF4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AD8518-5212-284B-A40E-7AB90102FA2C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3048" y="1234374"/>
            <a:ext cx="4429252" cy="2797877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3048" y="4902200"/>
            <a:ext cx="4429252" cy="1421321"/>
          </a:xfrm>
          <a:prstGeom prst="rect">
            <a:avLst/>
          </a:prstGeom>
        </p:spPr>
        <p:txBody>
          <a:bodyPr lIns="0" tIns="0" rIns="90000" bIns="0" anchor="b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1FA6D7-43DE-1A43-9FC9-5242C92B42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872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6718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44F1991-FEC2-974E-9332-C5A0A07C1DF4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AD8518-5212-284B-A40E-7AB90102FA2C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3048" y="1234374"/>
            <a:ext cx="4429252" cy="2797877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3048" y="4902200"/>
            <a:ext cx="4429252" cy="1421321"/>
          </a:xfrm>
          <a:prstGeom prst="rect">
            <a:avLst/>
          </a:prstGeom>
        </p:spPr>
        <p:txBody>
          <a:bodyPr lIns="0" tIns="0" rIns="90000" bIns="0" anchor="b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4A454A-85F3-BF4D-902F-62A2057E1E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872" y="522362"/>
            <a:ext cx="1210326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1910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>
            <a:off x="0" y="0"/>
            <a:ext cx="1284096" cy="6858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>
            <a:off x="0" y="0"/>
            <a:ext cx="1092072" cy="6858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63700" y="607662"/>
            <a:ext cx="6769100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3700" y="1600200"/>
            <a:ext cx="6769100" cy="4406900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ECC7E12-8D85-4C4E-A636-9B84DFFEF8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936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27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3C0503-D084-A547-8F56-62882A6A90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872" y="518762"/>
            <a:ext cx="584200" cy="673100"/>
          </a:xfrm>
          <a:prstGeom prst="rect">
            <a:avLst/>
          </a:prstGeom>
        </p:spPr>
      </p:pic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7872" y="1710623"/>
            <a:ext cx="2362327" cy="24892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Ilgesnis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iš</a:t>
            </a:r>
            <a:r>
              <a:rPr lang="en-US" dirty="0"/>
              <a:t> </a:t>
            </a:r>
            <a:r>
              <a:rPr lang="en-US" dirty="0" err="1"/>
              <a:t>kelių</a:t>
            </a:r>
            <a:r>
              <a:rPr lang="en-US" dirty="0"/>
              <a:t> </a:t>
            </a:r>
            <a:r>
              <a:rPr lang="en-US" dirty="0" err="1"/>
              <a:t>eilučių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D2215AD-0A99-CD40-80CC-8B6357E7218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00413" y="0"/>
            <a:ext cx="5843587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39794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id="{DF1A124D-FF27-D943-8FA7-CE2589BBCC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9144000" cy="55739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BE263E85-B29F-8640-AE37-4812287A57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465" y="5765928"/>
            <a:ext cx="6769100" cy="88258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300"/>
              </a:lnSpc>
              <a:buNone/>
              <a:defRPr sz="1000" b="1" spc="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NUOTRAUKOS APRAŠYMAS</a:t>
            </a:r>
          </a:p>
        </p:txBody>
      </p:sp>
    </p:spTree>
    <p:extLst>
      <p:ext uri="{BB962C8B-B14F-4D97-AF65-F5344CB8AC3E}">
        <p14:creationId xmlns:p14="http://schemas.microsoft.com/office/powerpoint/2010/main" val="7281809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5400000">
            <a:off x="3929952" y="-3929952"/>
            <a:ext cx="1284096" cy="9144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5400000">
            <a:off x="4025964" y="-4025964"/>
            <a:ext cx="1092072" cy="9144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33465" y="351408"/>
            <a:ext cx="6565835" cy="4613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219519"/>
            <a:ext cx="584200" cy="673100"/>
          </a:xfrm>
          <a:prstGeom prst="rect">
            <a:avLst/>
          </a:prstGeom>
        </p:spPr>
      </p:pic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id="{6FF11AB1-85C3-0C44-8FD6-F702D391877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284096"/>
            <a:ext cx="9144000" cy="55739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00500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607662"/>
            <a:ext cx="7983526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BFFFCD-1787-5B47-BD1A-1A848871FB7D}"/>
              </a:ext>
            </a:extLst>
          </p:cNvPr>
          <p:cNvSpPr txBox="1"/>
          <p:nvPr userDrawn="1"/>
        </p:nvSpPr>
        <p:spPr>
          <a:xfrm>
            <a:off x="627009" y="6263785"/>
            <a:ext cx="394499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spc="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KAUNO TECHNOLOGIJOS UNIVERSITETAS</a:t>
            </a:r>
          </a:p>
        </p:txBody>
      </p:sp>
    </p:spTree>
    <p:extLst>
      <p:ext uri="{BB962C8B-B14F-4D97-AF65-F5344CB8AC3E}">
        <p14:creationId xmlns:p14="http://schemas.microsoft.com/office/powerpoint/2010/main" val="21589649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2 _ 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607662"/>
            <a:ext cx="7983526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DF30CEF-7A26-DF43-83E2-2AD1FC0DB730}"/>
              </a:ext>
            </a:extLst>
          </p:cNvPr>
          <p:cNvSpPr txBox="1"/>
          <p:nvPr userDrawn="1"/>
        </p:nvSpPr>
        <p:spPr>
          <a:xfrm>
            <a:off x="627008" y="6263785"/>
            <a:ext cx="369812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spc="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KAUNAS UNIVERSITY OF TECHNOLOGY</a:t>
            </a:r>
          </a:p>
        </p:txBody>
      </p:sp>
    </p:spTree>
    <p:extLst>
      <p:ext uri="{BB962C8B-B14F-4D97-AF65-F5344CB8AC3E}">
        <p14:creationId xmlns:p14="http://schemas.microsoft.com/office/powerpoint/2010/main" val="42687447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5400000">
            <a:off x="3929952" y="-3929952"/>
            <a:ext cx="1284096" cy="9144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5400000">
            <a:off x="4025964" y="-4025964"/>
            <a:ext cx="1092072" cy="9144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351408"/>
            <a:ext cx="6565835" cy="4613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219519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3912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>
            <a:off x="7859904" y="0"/>
            <a:ext cx="1284096" cy="6858000"/>
          </a:xfrm>
          <a:prstGeom prst="rect">
            <a:avLst/>
          </a:prstGeom>
          <a:solidFill>
            <a:srgbClr val="E0E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>
            <a:off x="8051928" y="0"/>
            <a:ext cx="1092072" cy="6858000"/>
          </a:xfrm>
          <a:prstGeom prst="rect">
            <a:avLst/>
          </a:prstGeom>
          <a:solidFill>
            <a:srgbClr val="2C69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8" y="607662"/>
            <a:ext cx="6688192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008" y="1600200"/>
            <a:ext cx="6688192" cy="4406900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ECC7E12-8D85-4C4E-A636-9B84DFFEF8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5864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7956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uline skaidre _ LT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B5E15AB-C7C5-674B-BB8B-40EF0C823FC7}"/>
              </a:ext>
            </a:extLst>
          </p:cNvPr>
          <p:cNvSpPr/>
          <p:nvPr userDrawn="1"/>
        </p:nvSpPr>
        <p:spPr>
          <a:xfrm>
            <a:off x="-2" y="2160000"/>
            <a:ext cx="9144002" cy="2729501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7E57B9-61E0-EF48-B8CE-FDD5F9927E15}"/>
              </a:ext>
            </a:extLst>
          </p:cNvPr>
          <p:cNvSpPr/>
          <p:nvPr userDrawn="1"/>
        </p:nvSpPr>
        <p:spPr>
          <a:xfrm>
            <a:off x="-2" y="2160000"/>
            <a:ext cx="9144001" cy="24374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160000"/>
            <a:ext cx="9144000" cy="243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C87EE4-286D-B648-B0AD-23BB577F98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770" y="5513930"/>
            <a:ext cx="755730" cy="859456"/>
          </a:xfrm>
          <a:prstGeom prst="rect">
            <a:avLst/>
          </a:prstGeom>
        </p:spPr>
      </p:pic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E9342892-AB51-614E-9761-71E615A762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9144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31127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uline skaidre _ EN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3C8F01-7837-9B4D-9A9F-0C917D511C40}"/>
              </a:ext>
            </a:extLst>
          </p:cNvPr>
          <p:cNvSpPr/>
          <p:nvPr userDrawn="1"/>
        </p:nvSpPr>
        <p:spPr>
          <a:xfrm>
            <a:off x="-2" y="2160000"/>
            <a:ext cx="9144002" cy="2729501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B00069-2DFF-FF47-88F7-FE285D0DFBA5}"/>
              </a:ext>
            </a:extLst>
          </p:cNvPr>
          <p:cNvSpPr/>
          <p:nvPr userDrawn="1"/>
        </p:nvSpPr>
        <p:spPr>
          <a:xfrm>
            <a:off x="-2" y="2160000"/>
            <a:ext cx="9144001" cy="24374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160000"/>
            <a:ext cx="9144000" cy="243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E9342892-AB51-614E-9761-71E615A762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9144000" cy="21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7DE2C1-4061-474E-9CB0-988261729C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122" y="5513930"/>
            <a:ext cx="1556156" cy="8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4381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LT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C87EE4-286D-B648-B0AD-23BB577F98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7938" y="5513930"/>
            <a:ext cx="755730" cy="85945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3032B8E-BA6F-2345-B246-E83F1ED8D90C}"/>
              </a:ext>
            </a:extLst>
          </p:cNvPr>
          <p:cNvSpPr/>
          <p:nvPr userDrawn="1"/>
        </p:nvSpPr>
        <p:spPr>
          <a:xfrm>
            <a:off x="-2" y="2141712"/>
            <a:ext cx="9144002" cy="2729501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1DD246-244A-B549-831C-E9C09E78BB4A}"/>
              </a:ext>
            </a:extLst>
          </p:cNvPr>
          <p:cNvSpPr/>
          <p:nvPr userDrawn="1"/>
        </p:nvSpPr>
        <p:spPr>
          <a:xfrm>
            <a:off x="-2" y="0"/>
            <a:ext cx="9144001" cy="4579112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9144000" cy="4579112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868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EN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42FF71-DB1B-C04A-83D6-0119960236D8}"/>
              </a:ext>
            </a:extLst>
          </p:cNvPr>
          <p:cNvSpPr/>
          <p:nvPr userDrawn="1"/>
        </p:nvSpPr>
        <p:spPr>
          <a:xfrm>
            <a:off x="-2" y="2141712"/>
            <a:ext cx="9144002" cy="2729501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2DB9B7-2AE4-594E-B8B3-7A319ECF02F6}"/>
              </a:ext>
            </a:extLst>
          </p:cNvPr>
          <p:cNvSpPr/>
          <p:nvPr userDrawn="1"/>
        </p:nvSpPr>
        <p:spPr>
          <a:xfrm>
            <a:off x="-2" y="0"/>
            <a:ext cx="9144001" cy="4579112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0"/>
            <a:ext cx="9144000" cy="4597400"/>
          </a:xfrm>
          <a:prstGeom prst="rect">
            <a:avLst/>
          </a:prstGeom>
        </p:spPr>
        <p:txBody>
          <a:bodyPr lIns="720000" tIns="0" rIns="720000" anchor="ctr"/>
          <a:lstStyle>
            <a:lvl1pPr marL="0" indent="0" algn="ctr">
              <a:lnSpc>
                <a:spcPct val="100000"/>
              </a:lnSpc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8076" y="5705317"/>
            <a:ext cx="5257802" cy="6339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96605AB-6F28-3D43-82D4-574FD464CE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122" y="5513930"/>
            <a:ext cx="1556156" cy="8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1180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44F1991-FEC2-974E-9332-C5A0A07C1DF4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AD8518-5212-284B-A40E-7AB90102FA2C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3048" y="1234374"/>
            <a:ext cx="4429252" cy="2797877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3048" y="4902200"/>
            <a:ext cx="4429252" cy="1421321"/>
          </a:xfrm>
          <a:prstGeom prst="rect">
            <a:avLst/>
          </a:prstGeom>
        </p:spPr>
        <p:txBody>
          <a:bodyPr lIns="0" tIns="0" rIns="90000" bIns="0" anchor="b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1FA6D7-43DE-1A43-9FC9-5242C92B42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872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60592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e skaidre _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44F1991-FEC2-974E-9332-C5A0A07C1DF4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AD8518-5212-284B-A40E-7AB90102FA2C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3048" y="1234374"/>
            <a:ext cx="4429252" cy="2797877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3048" y="4902200"/>
            <a:ext cx="4429252" cy="1421321"/>
          </a:xfrm>
          <a:prstGeom prst="rect">
            <a:avLst/>
          </a:prstGeom>
        </p:spPr>
        <p:txBody>
          <a:bodyPr lIns="0" tIns="0" rIns="90000" bIns="0" anchor="b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Čia</a:t>
            </a:r>
            <a:r>
              <a:rPr lang="en-US" dirty="0"/>
              <a:t> </a:t>
            </a:r>
            <a:r>
              <a:rPr lang="en-US" dirty="0" err="1"/>
              <a:t>surašomi</a:t>
            </a:r>
            <a:r>
              <a:rPr lang="en-US" dirty="0"/>
              <a:t> </a:t>
            </a:r>
            <a:r>
              <a:rPr lang="en-US" dirty="0" err="1"/>
              <a:t>pranešėjai</a:t>
            </a:r>
            <a:r>
              <a:rPr lang="en-US" dirty="0"/>
              <a:t> / </a:t>
            </a:r>
            <a:r>
              <a:rPr lang="en-US" dirty="0" err="1"/>
              <a:t>autoriai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pristatymo</a:t>
            </a:r>
            <a:r>
              <a:rPr lang="en-US" dirty="0"/>
              <a:t>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4A454A-85F3-BF4D-902F-62A2057E1E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872" y="522362"/>
            <a:ext cx="1210326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7633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>
            <a:off x="0" y="0"/>
            <a:ext cx="1284096" cy="6858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>
            <a:off x="0" y="0"/>
            <a:ext cx="1092072" cy="6858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63700" y="607662"/>
            <a:ext cx="6769100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3700" y="1600200"/>
            <a:ext cx="6769100" cy="4406900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ECC7E12-8D85-4C4E-A636-9B84DFFEF8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936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2371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>
            <a:off x="0" y="0"/>
            <a:ext cx="3300984" cy="6858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3C0503-D084-A547-8F56-62882A6A90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872" y="518762"/>
            <a:ext cx="584200" cy="673100"/>
          </a:xfrm>
          <a:prstGeom prst="rect">
            <a:avLst/>
          </a:prstGeom>
        </p:spPr>
      </p:pic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7872" y="1710623"/>
            <a:ext cx="2362327" cy="24892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Ilgesnis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iš</a:t>
            </a:r>
            <a:r>
              <a:rPr lang="en-US" dirty="0"/>
              <a:t> </a:t>
            </a:r>
            <a:r>
              <a:rPr lang="en-US" dirty="0" err="1"/>
              <a:t>kelių</a:t>
            </a:r>
            <a:r>
              <a:rPr lang="en-US" dirty="0"/>
              <a:t> </a:t>
            </a:r>
            <a:r>
              <a:rPr lang="en-US" dirty="0" err="1"/>
              <a:t>eilučių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D2215AD-0A99-CD40-80CC-8B6357E7218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00413" y="0"/>
            <a:ext cx="5843587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07062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id="{DF1A124D-FF27-D943-8FA7-CE2589BBCC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9144000" cy="55739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BE263E85-B29F-8640-AE37-4812287A57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465" y="5765928"/>
            <a:ext cx="6769100" cy="88258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ts val="3300"/>
              </a:lnSpc>
              <a:buNone/>
              <a:defRPr sz="1000" b="1" spc="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NUOTRAUKOS APRAŠYMAS</a:t>
            </a:r>
          </a:p>
        </p:txBody>
      </p:sp>
    </p:spTree>
    <p:extLst>
      <p:ext uri="{BB962C8B-B14F-4D97-AF65-F5344CB8AC3E}">
        <p14:creationId xmlns:p14="http://schemas.microsoft.com/office/powerpoint/2010/main" val="5471077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e _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5400000">
            <a:off x="3929952" y="-3929952"/>
            <a:ext cx="1284096" cy="9144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5400000">
            <a:off x="4025964" y="-4025964"/>
            <a:ext cx="1092072" cy="9144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33465" y="351408"/>
            <a:ext cx="6565835" cy="4613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219519"/>
            <a:ext cx="584200" cy="673100"/>
          </a:xfrm>
          <a:prstGeom prst="rect">
            <a:avLst/>
          </a:prstGeom>
        </p:spPr>
      </p:pic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id="{6FF11AB1-85C3-0C44-8FD6-F702D391877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284096"/>
            <a:ext cx="9144000" cy="557390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39219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607662"/>
            <a:ext cx="7983526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BFFFCD-1787-5B47-BD1A-1A848871FB7D}"/>
              </a:ext>
            </a:extLst>
          </p:cNvPr>
          <p:cNvSpPr txBox="1"/>
          <p:nvPr userDrawn="1"/>
        </p:nvSpPr>
        <p:spPr>
          <a:xfrm>
            <a:off x="627008" y="6263785"/>
            <a:ext cx="394499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spc="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KAUNO TECHNOLOGIJOS UNIVERSITETAS</a:t>
            </a:r>
          </a:p>
        </p:txBody>
      </p:sp>
    </p:spTree>
    <p:extLst>
      <p:ext uri="{BB962C8B-B14F-4D97-AF65-F5344CB8AC3E}">
        <p14:creationId xmlns:p14="http://schemas.microsoft.com/office/powerpoint/2010/main" val="25713838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2 _ 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607662"/>
            <a:ext cx="7983526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854943B-0DA0-094E-90EB-2F0CCC2AD518}"/>
              </a:ext>
            </a:extLst>
          </p:cNvPr>
          <p:cNvSpPr txBox="1"/>
          <p:nvPr userDrawn="1"/>
        </p:nvSpPr>
        <p:spPr>
          <a:xfrm>
            <a:off x="627008" y="6263785"/>
            <a:ext cx="369812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spc="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KAUNAS UNIVERSITY OF TECHNOLOGY</a:t>
            </a:r>
          </a:p>
        </p:txBody>
      </p:sp>
    </p:spTree>
    <p:extLst>
      <p:ext uri="{BB962C8B-B14F-4D97-AF65-F5344CB8AC3E}">
        <p14:creationId xmlns:p14="http://schemas.microsoft.com/office/powerpoint/2010/main" val="320825377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5400000">
            <a:off x="3929952" y="-3929952"/>
            <a:ext cx="1284096" cy="9144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5400000">
            <a:off x="4025964" y="-4025964"/>
            <a:ext cx="1092072" cy="9144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351408"/>
            <a:ext cx="6565835" cy="4613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219519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51992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e _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49974" y="7131559"/>
            <a:ext cx="2057400" cy="365125"/>
          </a:xfrm>
        </p:spPr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>
            <a:off x="7859904" y="0"/>
            <a:ext cx="1284096" cy="6858000"/>
          </a:xfrm>
          <a:prstGeom prst="rect">
            <a:avLst/>
          </a:prstGeom>
          <a:solidFill>
            <a:srgbClr val="F4C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>
            <a:off x="8051928" y="0"/>
            <a:ext cx="1092072" cy="6858000"/>
          </a:xfrm>
          <a:prstGeom prst="rect">
            <a:avLst/>
          </a:prstGeom>
          <a:solidFill>
            <a:srgbClr val="5F9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008" y="607662"/>
            <a:ext cx="6688192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008" y="1600200"/>
            <a:ext cx="6688192" cy="4406900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ECC7E12-8D85-4C4E-A636-9B84DFFEF8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5864" y="518762"/>
            <a:ext cx="5842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14979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264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1140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1237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657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75003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777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4069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1357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8062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8117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4559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02287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24764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0118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16899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96598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865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urinio skaidre _ 2 _ 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363323-9CC3-8B46-8B0D-3CD68083223A}"/>
              </a:ext>
            </a:extLst>
          </p:cNvPr>
          <p:cNvSpPr/>
          <p:nvPr userDrawn="1"/>
        </p:nvSpPr>
        <p:spPr>
          <a:xfrm rot="16200000">
            <a:off x="3929952" y="1643952"/>
            <a:ext cx="1284096" cy="9144000"/>
          </a:xfrm>
          <a:prstGeom prst="rect">
            <a:avLst/>
          </a:prstGeom>
          <a:solidFill>
            <a:srgbClr val="F2F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4AD60C-D5B7-DA43-8E8D-FD230B5E9181}"/>
              </a:ext>
            </a:extLst>
          </p:cNvPr>
          <p:cNvSpPr/>
          <p:nvPr userDrawn="1"/>
        </p:nvSpPr>
        <p:spPr>
          <a:xfrm rot="16200000">
            <a:off x="4025964" y="1739964"/>
            <a:ext cx="1092072" cy="9144000"/>
          </a:xfrm>
          <a:prstGeom prst="rect">
            <a:avLst/>
          </a:prstGeom>
          <a:solidFill>
            <a:srgbClr val="2A28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00ABA5FE-04BC-2246-BB92-B9473E89CE9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7009" y="607662"/>
            <a:ext cx="7983526" cy="685800"/>
          </a:xfrm>
          <a:prstGeom prst="rect">
            <a:avLst/>
          </a:prstGeom>
        </p:spPr>
        <p:txBody>
          <a:bodyPr lIns="0" tIns="0" rIns="90000"/>
          <a:lstStyle>
            <a:lvl1pPr marL="0" indent="0">
              <a:lnSpc>
                <a:spcPts val="3300"/>
              </a:lnSpc>
              <a:buNone/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Pavadinimas</a:t>
            </a:r>
            <a:endParaRPr lang="en-US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37EC7DD-C755-964F-BFC9-8741D464C2A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7008" y="1600200"/>
            <a:ext cx="7983527" cy="3443096"/>
          </a:xfrm>
          <a:prstGeom prst="rect">
            <a:avLst/>
          </a:prstGeom>
        </p:spPr>
        <p:txBody>
          <a:bodyPr lIns="0" tIns="0" rIns="90000" bIns="0" anchor="t"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 u="none" strike="noStrike" smtClean="0">
                <a:effectLst/>
              </a:defRPr>
            </a:lvl1pPr>
            <a:lvl2pPr marL="4572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4D3B17-C101-5440-BA03-6A01FEE3EE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6336" y="5975413"/>
            <a:ext cx="584200" cy="673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BFFFCD-1787-5B47-BD1A-1A848871FB7D}"/>
              </a:ext>
            </a:extLst>
          </p:cNvPr>
          <p:cNvSpPr txBox="1"/>
          <p:nvPr userDrawn="1"/>
        </p:nvSpPr>
        <p:spPr>
          <a:xfrm>
            <a:off x="627008" y="6263785"/>
            <a:ext cx="369812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spc="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KAUNAS UNIVERSITY OF TECHNOLOGY</a:t>
            </a:r>
          </a:p>
        </p:txBody>
      </p:sp>
    </p:spTree>
    <p:extLst>
      <p:ext uri="{BB962C8B-B14F-4D97-AF65-F5344CB8AC3E}">
        <p14:creationId xmlns:p14="http://schemas.microsoft.com/office/powerpoint/2010/main" val="165111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49974" y="619175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795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1" r:id="rId2"/>
    <p:sldLayoutId id="2147483707" r:id="rId3"/>
    <p:sldLayoutId id="2147483705" r:id="rId4"/>
    <p:sldLayoutId id="2147483680" r:id="rId5"/>
    <p:sldLayoutId id="2147483697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702" r:id="rId12"/>
    <p:sldLayoutId id="2147483686" r:id="rId13"/>
    <p:sldLayoutId id="214748368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49974" y="619175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47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698" r:id="rId5"/>
    <p:sldLayoutId id="2147483699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703" r:id="rId12"/>
    <p:sldLayoutId id="2147483677" r:id="rId13"/>
    <p:sldLayoutId id="214748367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49974" y="619175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06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00" r:id="rId5"/>
    <p:sldLayoutId id="2147483701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704" r:id="rId12"/>
    <p:sldLayoutId id="2147483695" r:id="rId13"/>
    <p:sldLayoutId id="214748369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C45A6-A598-6B48-A6BF-38CE04359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331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6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6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6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6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BF45EF-C9D6-8C4D-B252-16338AE867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Module code: T125B107</a:t>
            </a:r>
            <a:endParaRPr lang="en-US" dirty="0"/>
          </a:p>
          <a:p>
            <a:r>
              <a:rPr lang="en-GB" sz="2400" dirty="0"/>
              <a:t>Module title: Introduction to Control Technologies</a:t>
            </a:r>
            <a:endParaRPr lang="en-US" sz="2400" dirty="0"/>
          </a:p>
          <a:p>
            <a:r>
              <a:rPr lang="en-GB" sz="2400" dirty="0"/>
              <a:t>Arduino Robot Project</a:t>
            </a:r>
            <a:endParaRPr lang="lt-LT" sz="2400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8C40BB94-BCC5-F44A-923F-95DB90693F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2218965" y="5721020"/>
            <a:ext cx="7307884" cy="633921"/>
          </a:xfrm>
        </p:spPr>
        <p:txBody>
          <a:bodyPr/>
          <a:lstStyle/>
          <a:p>
            <a:r>
              <a:rPr lang="en-GB" dirty="0"/>
              <a:t>Student: Farhana </a:t>
            </a:r>
            <a:r>
              <a:rPr lang="en-GB" dirty="0" err="1"/>
              <a:t>Khanom</a:t>
            </a:r>
            <a:r>
              <a:rPr lang="en-GB" dirty="0"/>
              <a:t> Fariha</a:t>
            </a:r>
          </a:p>
          <a:p>
            <a:r>
              <a:rPr lang="en-GB" dirty="0"/>
              <a:t>Assoc. Prof. </a:t>
            </a:r>
            <a:r>
              <a:rPr lang="en-GB" dirty="0" err="1"/>
              <a:t>Gintaras</a:t>
            </a:r>
            <a:r>
              <a:rPr lang="en-GB" dirty="0"/>
              <a:t> </a:t>
            </a:r>
            <a:r>
              <a:rPr lang="en-GB" dirty="0" err="1"/>
              <a:t>Dervinis</a:t>
            </a:r>
            <a:r>
              <a:rPr lang="en-GB" dirty="0"/>
              <a:t>          </a:t>
            </a:r>
            <a:endParaRPr lang="en-US" dirty="0"/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E0A603B6-117F-A14E-874A-DA01436AE20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77453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B72E51-7DB5-4206-BE5F-6C9414C3AA44}"/>
              </a:ext>
            </a:extLst>
          </p:cNvPr>
          <p:cNvSpPr txBox="1"/>
          <p:nvPr/>
        </p:nvSpPr>
        <p:spPr>
          <a:xfrm>
            <a:off x="472966" y="985345"/>
            <a:ext cx="7677806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Robots are used for automation in many industries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 arms help in picking and placing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goal was to build a simple robotic arm prototype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move and grip small items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6213FA-9279-4A31-81ED-AF903E7EB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304" y="1076211"/>
            <a:ext cx="3416696" cy="288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8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628006-99C6-4F26-A24B-901820A2ED00}"/>
              </a:ext>
            </a:extLst>
          </p:cNvPr>
          <p:cNvSpPr txBox="1"/>
          <p:nvPr/>
        </p:nvSpPr>
        <p:spPr>
          <a:xfrm>
            <a:off x="662152" y="843455"/>
            <a:ext cx="785122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Robotic Arm Project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robotic arm controlled using Arduino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Arm, forearm and gripper can move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pick and place small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as a simple learning prototype</a:t>
            </a:r>
          </a:p>
        </p:txBody>
      </p:sp>
    </p:spTree>
    <p:extLst>
      <p:ext uri="{BB962C8B-B14F-4D97-AF65-F5344CB8AC3E}">
        <p14:creationId xmlns:p14="http://schemas.microsoft.com/office/powerpoint/2010/main" val="1430761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6DE4E8-F73A-4F70-A172-E39DA0FA3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3783723" cy="44379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AC52CA-4C4D-4F3E-8232-99021769ED3D}"/>
              </a:ext>
            </a:extLst>
          </p:cNvPr>
          <p:cNvSpPr txBox="1"/>
          <p:nvPr/>
        </p:nvSpPr>
        <p:spPr>
          <a:xfrm>
            <a:off x="4642946" y="1008993"/>
            <a:ext cx="485577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Assembly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robotic arm model assembled on acrylic 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board connected to servo motors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movements tested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Capable of gripping small objects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38DEDF-1B1F-4027-95D1-1C88EB129D62}"/>
              </a:ext>
            </a:extLst>
          </p:cNvPr>
          <p:cNvSpPr txBox="1"/>
          <p:nvPr/>
        </p:nvSpPr>
        <p:spPr>
          <a:xfrm>
            <a:off x="102476" y="4603531"/>
            <a:ext cx="4130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Robotic Arm Prototype</a:t>
            </a:r>
          </a:p>
        </p:txBody>
      </p:sp>
    </p:spTree>
    <p:extLst>
      <p:ext uri="{BB962C8B-B14F-4D97-AF65-F5344CB8AC3E}">
        <p14:creationId xmlns:p14="http://schemas.microsoft.com/office/powerpoint/2010/main" val="3143577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46541" y="941832"/>
            <a:ext cx="7983527" cy="769925"/>
          </a:xfrm>
        </p:spPr>
        <p:txBody>
          <a:bodyPr>
            <a:normAutofit/>
          </a:bodyPr>
          <a:lstStyle/>
          <a:p>
            <a:pPr lvl="0"/>
            <a:r>
              <a:rPr lang="lt-L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4DF786-09E8-4FFE-A553-0B549FEDFA3C}"/>
              </a:ext>
            </a:extLst>
          </p:cNvPr>
          <p:cNvSpPr txBox="1"/>
          <p:nvPr/>
        </p:nvSpPr>
        <p:spPr>
          <a:xfrm>
            <a:off x="546541" y="1973179"/>
            <a:ext cx="78766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 – main controller for the robot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Motors (4x) – rotate joints and gripper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 Arm– provides structure and movement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 – stable energy for motors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Wires – signal and power connections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42EE3A-877C-433E-916C-2E6349A48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6271" y="0"/>
            <a:ext cx="3107729" cy="471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412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22182" y="568757"/>
            <a:ext cx="7983527" cy="3443096"/>
          </a:xfrm>
        </p:spPr>
        <p:txBody>
          <a:bodyPr>
            <a:normAutofit/>
          </a:bodyPr>
          <a:lstStyle/>
          <a:p>
            <a:pPr lvl="0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sends control signals to servo motors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motors rotate the robotic arm joints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Gripper controlled for pick-and-place tasks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 provides stable voltage to motors</a:t>
            </a:r>
          </a:p>
        </p:txBody>
      </p:sp>
    </p:spTree>
    <p:extLst>
      <p:ext uri="{BB962C8B-B14F-4D97-AF65-F5344CB8AC3E}">
        <p14:creationId xmlns:p14="http://schemas.microsoft.com/office/powerpoint/2010/main" val="36649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A0E1B-6902-450C-B58B-31D0E599F87B}"/>
              </a:ext>
            </a:extLst>
          </p:cNvPr>
          <p:cNvSpPr/>
          <p:nvPr/>
        </p:nvSpPr>
        <p:spPr>
          <a:xfrm>
            <a:off x="2837793" y="1395247"/>
            <a:ext cx="2293883" cy="3769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Input/Code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AABA6CC2-FA95-4D18-B874-607E0C102E4A}"/>
              </a:ext>
            </a:extLst>
          </p:cNvPr>
          <p:cNvSpPr/>
          <p:nvPr/>
        </p:nvSpPr>
        <p:spPr>
          <a:xfrm>
            <a:off x="3870397" y="1772237"/>
            <a:ext cx="228673" cy="3685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0777E3-DFED-4CC1-B4B8-A230D612CAC5}"/>
              </a:ext>
            </a:extLst>
          </p:cNvPr>
          <p:cNvSpPr/>
          <p:nvPr/>
        </p:nvSpPr>
        <p:spPr>
          <a:xfrm>
            <a:off x="2825969" y="2163126"/>
            <a:ext cx="2293883" cy="3231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7DB8618E-DD66-489D-8498-55D26400F08C}"/>
              </a:ext>
            </a:extLst>
          </p:cNvPr>
          <p:cNvSpPr/>
          <p:nvPr/>
        </p:nvSpPr>
        <p:spPr>
          <a:xfrm>
            <a:off x="3870397" y="2490261"/>
            <a:ext cx="252286" cy="3396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5C9F38-F0FE-4187-A2B4-048F2A98F126}"/>
              </a:ext>
            </a:extLst>
          </p:cNvPr>
          <p:cNvSpPr/>
          <p:nvPr/>
        </p:nvSpPr>
        <p:spPr>
          <a:xfrm>
            <a:off x="2837793" y="2829911"/>
            <a:ext cx="2293883" cy="3769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Controller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04922F75-BD32-4E9F-AB40-66B2E2D59665}"/>
              </a:ext>
            </a:extLst>
          </p:cNvPr>
          <p:cNvSpPr/>
          <p:nvPr/>
        </p:nvSpPr>
        <p:spPr>
          <a:xfrm>
            <a:off x="3870435" y="3206900"/>
            <a:ext cx="252248" cy="3769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455D3E-10F3-4DA6-9C51-2042DE5A0CD4}"/>
              </a:ext>
            </a:extLst>
          </p:cNvPr>
          <p:cNvSpPr/>
          <p:nvPr/>
        </p:nvSpPr>
        <p:spPr>
          <a:xfrm>
            <a:off x="2837793" y="3583889"/>
            <a:ext cx="2282059" cy="3769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Motors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485E38D1-D8B7-4E75-BAFD-A875C0490177}"/>
              </a:ext>
            </a:extLst>
          </p:cNvPr>
          <p:cNvSpPr/>
          <p:nvPr/>
        </p:nvSpPr>
        <p:spPr>
          <a:xfrm>
            <a:off x="3870435" y="3960878"/>
            <a:ext cx="252248" cy="3769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4BB498-905D-4DC4-B955-15F5A3E2DB88}"/>
              </a:ext>
            </a:extLst>
          </p:cNvPr>
          <p:cNvSpPr/>
          <p:nvPr/>
        </p:nvSpPr>
        <p:spPr>
          <a:xfrm>
            <a:off x="2820056" y="4337867"/>
            <a:ext cx="2305707" cy="5990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 Arm Motion</a:t>
            </a:r>
          </a:p>
        </p:txBody>
      </p:sp>
    </p:spTree>
    <p:extLst>
      <p:ext uri="{BB962C8B-B14F-4D97-AF65-F5344CB8AC3E}">
        <p14:creationId xmlns:p14="http://schemas.microsoft.com/office/powerpoint/2010/main" val="3639142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038A83-DB2E-4689-AC92-AD77113E5C1E}"/>
              </a:ext>
            </a:extLst>
          </p:cNvPr>
          <p:cNvSpPr txBox="1"/>
          <p:nvPr/>
        </p:nvSpPr>
        <p:spPr>
          <a:xfrm>
            <a:off x="461141" y="1379483"/>
            <a:ext cx="8221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&amp; Control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ACBBF-2151-4059-811B-D5B37599FA79}"/>
              </a:ext>
            </a:extLst>
          </p:cNvPr>
          <p:cNvSpPr txBox="1"/>
          <p:nvPr/>
        </p:nvSpPr>
        <p:spPr>
          <a:xfrm>
            <a:off x="461141" y="2360886"/>
            <a:ext cx="5931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Programmed using Arduino 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motors control arm and gripper movements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Gripper opens and closes by servo rotation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C4613C-B74C-4FD1-8FA4-DEE663189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323" y="1554310"/>
            <a:ext cx="3421677" cy="40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411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F9C88F6-E782-4E7D-9C89-10DC076B68D4}"/>
              </a:ext>
            </a:extLst>
          </p:cNvPr>
          <p:cNvSpPr txBox="1"/>
          <p:nvPr/>
        </p:nvSpPr>
        <p:spPr>
          <a:xfrm>
            <a:off x="536028" y="945931"/>
            <a:ext cx="670034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Results: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Gripper opens and closes successfully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Forearm and arm can move properly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Able to hold light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goals for basic movement achieved</a:t>
            </a:r>
          </a:p>
        </p:txBody>
      </p:sp>
    </p:spTree>
    <p:extLst>
      <p:ext uri="{BB962C8B-B14F-4D97-AF65-F5344CB8AC3E}">
        <p14:creationId xmlns:p14="http://schemas.microsoft.com/office/powerpoint/2010/main" val="1276792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A993938-9480-4DAC-BCE5-88783039268B}"/>
              </a:ext>
            </a:extLst>
          </p:cNvPr>
          <p:cNvSpPr txBox="1"/>
          <p:nvPr/>
        </p:nvSpPr>
        <p:spPr>
          <a:xfrm>
            <a:off x="331076" y="654269"/>
            <a:ext cx="7330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84079A-579A-465F-B4A4-70DDEA4F0D84}"/>
              </a:ext>
            </a:extLst>
          </p:cNvPr>
          <p:cNvSpPr txBox="1"/>
          <p:nvPr/>
        </p:nvSpPr>
        <p:spPr>
          <a:xfrm>
            <a:off x="488731" y="1576552"/>
            <a:ext cx="81823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lifting strength of the servo motors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Difficulties in stabilizing the arm movement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Wiring and connections needed corrections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joints not fully working yet</a:t>
            </a:r>
          </a:p>
        </p:txBody>
      </p:sp>
    </p:spTree>
    <p:extLst>
      <p:ext uri="{BB962C8B-B14F-4D97-AF65-F5344CB8AC3E}">
        <p14:creationId xmlns:p14="http://schemas.microsoft.com/office/powerpoint/2010/main" val="3287933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D0D30D-9A41-47A7-B854-8335808CF5E8}"/>
              </a:ext>
            </a:extLst>
          </p:cNvPr>
          <p:cNvSpPr txBox="1"/>
          <p:nvPr/>
        </p:nvSpPr>
        <p:spPr>
          <a:xfrm>
            <a:off x="591207" y="1008993"/>
            <a:ext cx="8119241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Learning Outcomes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how to assemble a robotic arm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servo motor movement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basic Arduino programming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can grip and move light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is safe, simple and low-cost</a:t>
            </a:r>
          </a:p>
        </p:txBody>
      </p:sp>
    </p:spTree>
    <p:extLst>
      <p:ext uri="{BB962C8B-B14F-4D97-AF65-F5344CB8AC3E}">
        <p14:creationId xmlns:p14="http://schemas.microsoft.com/office/powerpoint/2010/main" val="1370292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8C2D19-055A-4F97-BA4B-AEB94130B082}"/>
              </a:ext>
            </a:extLst>
          </p:cNvPr>
          <p:cNvSpPr txBox="1"/>
          <p:nvPr/>
        </p:nvSpPr>
        <p:spPr>
          <a:xfrm>
            <a:off x="386255" y="827690"/>
            <a:ext cx="811135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 arm prototype successfully built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movements and gripper are working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achieved its basic goals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upgrades can improve performance</a:t>
            </a:r>
          </a:p>
        </p:txBody>
      </p:sp>
    </p:spTree>
    <p:extLst>
      <p:ext uri="{BB962C8B-B14F-4D97-AF65-F5344CB8AC3E}">
        <p14:creationId xmlns:p14="http://schemas.microsoft.com/office/powerpoint/2010/main" val="1331006470"/>
      </p:ext>
    </p:extLst>
  </p:cSld>
  <p:clrMapOvr>
    <a:masterClrMapping/>
  </p:clrMapOvr>
</p:sld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Solidi melyna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Zalia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elyna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5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58B64AFFE26B43B77AA17D11A60417" ma:contentTypeVersion="1" ma:contentTypeDescription="Create a new document." ma:contentTypeScope="" ma:versionID="01bd53db0e8d6d534b754d77d1b7686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9ab8c2b3c1d2a690bc60d382cab7cd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713038C-5CD9-4FFE-AA2B-BBCB0B5BD7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CCEB60F-7A5F-480F-B242-2B665E0478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B8BEE96-E3E5-4052-9DB8-39C9891A143C}">
  <ds:schemaRefs>
    <ds:schemaRef ds:uri="http://schemas.microsoft.com/office/infopath/2007/PartnerControls"/>
    <ds:schemaRef ds:uri="http://purl.org/dc/dcmitype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465</TotalTime>
  <Words>333</Words>
  <Application>Microsoft Office PowerPoint</Application>
  <PresentationFormat>On-screen Show (4:3)</PresentationFormat>
  <Paragraphs>69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Century Gothic</vt:lpstr>
      <vt:lpstr>Times New Roman</vt:lpstr>
      <vt:lpstr>Wingdings 3</vt:lpstr>
      <vt:lpstr>Solidi melyna</vt:lpstr>
      <vt:lpstr>Zalia</vt:lpstr>
      <vt:lpstr>Melyna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Didžiapetris Domantas</dc:creator>
  <cp:lastModifiedBy>Farhana Fariha</cp:lastModifiedBy>
  <cp:revision>46</cp:revision>
  <dcterms:created xsi:type="dcterms:W3CDTF">2019-09-05T10:43:27Z</dcterms:created>
  <dcterms:modified xsi:type="dcterms:W3CDTF">2025-12-03T21:53:58Z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0x0101006558B64AFFE26B43B77AA17D11A60417</vt:lpwstr>
  </property>
  <property fmtid="{D5CDD505-2E9C-101B-9397-08002B2CF9AE}" pid="3" name="auditlogfromitemproperty">
    <vt:lpwstr/>
  </property>
  <property fmtid="{D5CDD505-2E9C-101B-9397-08002B2CF9AE}" pid="4" name="SSAuditLogLastValue">
    <vt:lpwstr>&lt;?xml version="1.0" encoding="utf-16"?&gt;_x000d_
&lt;SSItemProperties xmlns:xsd="http://www.w3.org/2001/XMLSchema" xmlns:xsi="http://www.w3.org/2001/XMLSchema-instance"&gt;_x000d_
  &lt;Fields&gt;_x000d_
    &lt;string&gt;FileLeafRef&lt;/string&gt;_x000d_
    &lt;string&gt;Title&lt;/string&gt;_x000d_
  &lt;/Fields&gt;_x000d_
  &lt;Value</vt:lpwstr>
  </property>
</Properties>
</file>